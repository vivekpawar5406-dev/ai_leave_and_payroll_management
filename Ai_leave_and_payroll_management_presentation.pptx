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6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6"/>
  </p:notesMasterIdLst>
  <p:sldIdLst>
    <p:sldId id="256" r:id="rId5"/>
    <p:sldId id="1249" r:id="rId6"/>
    <p:sldId id="1085" r:id="rId7"/>
    <p:sldId id="352" r:id="rId8"/>
    <p:sldId id="1251" r:id="rId9"/>
    <p:sldId id="1253" r:id="rId10"/>
    <p:sldId id="1254" r:id="rId11"/>
    <p:sldId id="1256" r:id="rId12"/>
    <p:sldId id="1257" r:id="rId13"/>
    <p:sldId id="1258" r:id="rId14"/>
    <p:sldId id="1255" r:id="rId15"/>
  </p:sldIdLst>
  <p:sldSz cx="12192000" cy="6858000"/>
  <p:notesSz cx="6858000" cy="914400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84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4032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FF"/>
    <a:srgbClr val="FFE500"/>
    <a:srgbClr val="B9D0FF"/>
    <a:srgbClr val="034977"/>
    <a:srgbClr val="023558"/>
    <a:srgbClr val="045890"/>
    <a:srgbClr val="0000FF"/>
    <a:srgbClr val="EDE2EE"/>
    <a:srgbClr val="1B35B5"/>
    <a:srgbClr val="667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8" dt="2026-09-30T12:07:40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 varScale="1">
        <p:scale>
          <a:sx n="89" d="100"/>
          <a:sy n="89" d="100"/>
        </p:scale>
        <p:origin x="437" y="72"/>
      </p:cViewPr>
      <p:guideLst>
        <p:guide orient="horz" pos="784"/>
        <p:guide pos="192"/>
        <p:guide orient="horz" pos="1080"/>
        <p:guide orient="horz" pos="2160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tags" Target="tags/tag1.xml"/><Relationship Id="rId220" Type="http://customschemas.google.com/relationships/presentationmetadata" Target="metadata"/><Relationship Id="rId221" Type="http://schemas.openxmlformats.org/officeDocument/2006/relationships/presProps" Target="presProps.xml"/><Relationship Id="rId222" Type="http://schemas.openxmlformats.org/officeDocument/2006/relationships/viewProps" Target="viewProps.xml"/><Relationship Id="rId223" Type="http://schemas.openxmlformats.org/officeDocument/2006/relationships/theme" Target="theme/theme1.xml"/><Relationship Id="rId224" Type="http://schemas.openxmlformats.org/officeDocument/2006/relationships/tableStyles" Target="tableStyles.xml"/><Relationship Id="rId225" Type="http://schemas.microsoft.com/office/2016/11/relationships/changesInfo" Target="changesInfos/changesInfo1.xml"/><Relationship Id="rId2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Shekhar" userId="S::shashank@edunetfoundation.org::0008d1ff-90e7-469a-9966-0dcad996503d" providerId="AD" clId="Web-{00000000-0000-0000-0000-000000000000}"/>
    <pc:docChg chg="modSld">
      <pc:chgData name="Shashank Shekhar" userId="S::shashank@edunetfoundation.org::0008d1ff-90e7-469a-9966-0dcad996503d" providerId="AD" clId="Web-{00000000-0000-0000-0000-000000000000}" dt="2026-09-30T12:07:40.188" v="21" actId="20577"/>
      <pc:docMkLst>
        <pc:docMk/>
      </pc:docMkLst>
      <pc:sldChg chg="modSp">
        <pc:chgData name="Shashank Shekhar" userId="S::shashank@edunetfoundation.org::0008d1ff-90e7-469a-9966-0dcad996503d" providerId="AD" clId="Web-{00000000-0000-0000-0000-000000000000}" dt="2026-09-30T12:07:40.188" v="21" actId="20577"/>
        <pc:sldMkLst>
          <pc:docMk/>
          <pc:sldMk cId="0" sldId="256"/>
        </pc:sldMkLst>
        <pc:spChg chg="mod">
          <ac:chgData name="Shashank Shekhar" userId="S::shashank@edunetfoundation.org::0008d1ff-90e7-469a-9966-0dcad996503d" providerId="AD" clId="Web-{00000000-0000-0000-0000-000000000000}" dt="2026-09-30T12:07:40.188" v="21" actId="20577"/>
          <ac:spMkLst>
            <pc:docMk/>
            <pc:sldMk cId="0" sldId="256"/>
            <ac:spMk id="8" creationId="{1CFAFDC7-5FD4-AA0C-2C85-1B59ED6CD79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Speaker would be briefing the students that this content has been prepared for the educational purpose only and is referred from multiple sites which are cited in the last.</a:t>
            </a:r>
            <a:r>
              <a:rPr lang="en-IN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---------------------------------------------------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A disclaimer is a statement or notice that is intended to clarify, limit, or provide information about the scope, limitations, or potential risks associated with certain actions, information, products, services, or content. 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07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this slide speaker will be introducing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the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program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and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its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outcomes.  The speaker will introduce himself in brief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187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8CA52B4-AFE7-436D-10A5-33BBC2F8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0EAD850-4C0A-4D1F-54F8-C5F959A15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11DB8B2-672C-460F-29D3-0F2797996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4303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E1FC1B1-B44F-F795-8CE0-8A1E5FA3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6FCACB7-6330-511A-DC41-2FCC5B286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3B2F108-3E8E-8CB3-D39C-2E5E2EE72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153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76A3C39-E505-849D-072B-5A72E5B2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4CA75921-0A6B-4147-FFE3-27787B5DA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F44E0A6D-AE05-66D4-3151-9ADBBF817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2352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89DB2EC-5E59-1C9C-B257-47839B4E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21CF6DE-F83D-DF02-0EA6-49693349C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8D50153A-7825-FF11-BF01-858C9847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03075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73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97814" y="126596"/>
            <a:ext cx="1748776" cy="58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a red and blue line&#10;&#10;Description automatically generated">
            <a:extLst>
              <a:ext uri="{FF2B5EF4-FFF2-40B4-BE49-F238E27FC236}">
                <a16:creationId xmlns:a16="http://schemas.microsoft.com/office/drawing/2014/main" id="{9CA50098-7D03-1836-41AA-E168C007D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82037" b="14815"/>
          <a:stretch/>
        </p:blipFill>
        <p:spPr>
          <a:xfrm>
            <a:off x="0" y="6743065"/>
            <a:ext cx="12192000" cy="137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AFEAB-13E2-B4AA-FD33-8FE461808E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0464800" cy="666750"/>
          </a:xfrm>
          <a:prstGeom prst="rect">
            <a:avLst/>
          </a:prstGeom>
        </p:spPr>
      </p:pic>
      <p:pic>
        <p:nvPicPr>
          <p:cNvPr id="20" name="Picture 19" descr="A black screen with red and blue stripes&#10;&#10;Description automatically generated">
            <a:extLst>
              <a:ext uri="{FF2B5EF4-FFF2-40B4-BE49-F238E27FC236}">
                <a16:creationId xmlns:a16="http://schemas.microsoft.com/office/drawing/2014/main" id="{11971837-D8B7-1C36-5140-3CE05FA77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94963"/>
          <a:stretch/>
        </p:blipFill>
        <p:spPr>
          <a:xfrm>
            <a:off x="0" y="6522720"/>
            <a:ext cx="12192000" cy="34544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14" r:id="rId2"/>
    <p:sldLayoutId id="214748372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hyperlink" Target="https://socket.io/docs/v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1970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3" name="Freeform 3"/>
          <p:cNvSpPr/>
          <p:nvPr/>
        </p:nvSpPr>
        <p:spPr>
          <a:xfrm>
            <a:off x="0" y="6660927"/>
            <a:ext cx="12192001" cy="197073"/>
          </a:xfrm>
          <a:custGeom>
            <a:avLst/>
            <a:gdLst/>
            <a:ahLst/>
            <a:cxnLst/>
            <a:rect l="l" t="t" r="r" b="b"/>
            <a:pathLst>
              <a:path w="17979397" h="921444">
                <a:moveTo>
                  <a:pt x="0" y="0"/>
                </a:moveTo>
                <a:lnTo>
                  <a:pt x="17979397" y="0"/>
                </a:lnTo>
                <a:lnTo>
                  <a:pt x="17979397" y="921444"/>
                </a:lnTo>
                <a:lnTo>
                  <a:pt x="0" y="921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4" name="Freeform 4"/>
          <p:cNvSpPr/>
          <p:nvPr/>
        </p:nvSpPr>
        <p:spPr>
          <a:xfrm flipV="1">
            <a:off x="0" y="4401147"/>
            <a:ext cx="2529579" cy="2456853"/>
          </a:xfrm>
          <a:custGeom>
            <a:avLst/>
            <a:gdLst/>
            <a:ahLst/>
            <a:cxnLst/>
            <a:rect l="l" t="t" r="r" b="b"/>
            <a:pathLst>
              <a:path w="3794368" h="3685280">
                <a:moveTo>
                  <a:pt x="0" y="3685280"/>
                </a:moveTo>
                <a:lnTo>
                  <a:pt x="3794368" y="3685280"/>
                </a:lnTo>
                <a:lnTo>
                  <a:pt x="3794368" y="0"/>
                </a:lnTo>
                <a:lnTo>
                  <a:pt x="0" y="0"/>
                </a:lnTo>
                <a:lnTo>
                  <a:pt x="0" y="368528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5" name="Freeform 5"/>
          <p:cNvSpPr/>
          <p:nvPr/>
        </p:nvSpPr>
        <p:spPr>
          <a:xfrm flipH="1">
            <a:off x="5301756" y="0"/>
            <a:ext cx="6890244" cy="6692149"/>
          </a:xfrm>
          <a:custGeom>
            <a:avLst/>
            <a:gdLst/>
            <a:ahLst/>
            <a:cxnLst/>
            <a:rect l="l" t="t" r="r" b="b"/>
            <a:pathLst>
              <a:path w="10335366" h="10038224">
                <a:moveTo>
                  <a:pt x="10335366" y="0"/>
                </a:moveTo>
                <a:lnTo>
                  <a:pt x="0" y="0"/>
                </a:lnTo>
                <a:lnTo>
                  <a:pt x="0" y="10038224"/>
                </a:lnTo>
                <a:lnTo>
                  <a:pt x="10335366" y="10038224"/>
                </a:lnTo>
                <a:lnTo>
                  <a:pt x="1033536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grpSp>
        <p:nvGrpSpPr>
          <p:cNvPr id="6" name="Group 6"/>
          <p:cNvGrpSpPr/>
          <p:nvPr/>
        </p:nvGrpSpPr>
        <p:grpSpPr>
          <a:xfrm>
            <a:off x="6007852" y="391844"/>
            <a:ext cx="6074313" cy="6074312"/>
            <a:chOff x="-188667" y="-69445"/>
            <a:chExt cx="1507375" cy="1507374"/>
          </a:xfrm>
        </p:grpSpPr>
        <p:sp>
          <p:nvSpPr>
            <p:cNvPr id="7" name="Freeform 7"/>
            <p:cNvSpPr/>
            <p:nvPr/>
          </p:nvSpPr>
          <p:spPr>
            <a:xfrm>
              <a:off x="-188667" y="-69445"/>
              <a:ext cx="1507375" cy="1507374"/>
            </a:xfrm>
            <a:prstGeom prst="ellipse">
              <a:avLst/>
            </a:prstGeom>
            <a:blipFill>
              <a:blip r:embed="rId5"/>
              <a:srcRect/>
              <a:stretch>
                <a:fillRect l="-78487" t="-9550" b="-9550"/>
              </a:stretch>
            </a:blipFill>
          </p:spPr>
          <p:txBody>
            <a:bodyPr/>
            <a:lstStyle/>
            <a:p>
              <a:endParaRPr lang="en-IN" sz="1245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FAFDC7-5FD4-AA0C-2C85-1B59ED6CD792}"/>
              </a:ext>
            </a:extLst>
          </p:cNvPr>
          <p:cNvSpPr txBox="1"/>
          <p:nvPr/>
        </p:nvSpPr>
        <p:spPr>
          <a:xfrm>
            <a:off x="358892" y="2584502"/>
            <a:ext cx="564895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23558"/>
                </a:solidFill>
                <a:latin typeface="+mj-lt"/>
              </a:rPr>
              <a:t> AI Leave &amp; Payroll Management System</a:t>
            </a: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4F00DD0-EB7B-EBC0-7FBE-8E865107A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61" y="388408"/>
            <a:ext cx="1926070" cy="626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B315E8-A49C-3C13-082D-0A9135A687F9}"/>
              </a:ext>
            </a:extLst>
          </p:cNvPr>
          <p:cNvSpPr txBox="1"/>
          <p:nvPr/>
        </p:nvSpPr>
        <p:spPr>
          <a:xfrm>
            <a:off x="992572" y="4519689"/>
            <a:ext cx="42734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sz="1600" b="1">
                <a:solidFill>
                  <a:srgbClr val="023558"/>
                </a:solidFill>
                <a:latin typeface="Segoe UI"/>
              </a:rPr>
              <a:t>Team Details - NG_CP_Team_9016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10590-615E-A8EC-A0AB-F60F9F138367}"/>
              </a:ext>
            </a:extLst>
          </p:cNvPr>
          <p:cNvSpPr txBox="1"/>
          <p:nvPr/>
        </p:nvSpPr>
        <p:spPr>
          <a:xfrm>
            <a:off x="2118540" y="4919653"/>
            <a:ext cx="202097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Vivek Pawar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Pratik Nikam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Krushna Dhotre</a:t>
            </a:r>
          </a:p>
          <a:p>
            <a:pPr algn="ctr"/>
            <a:r>
              <a:rPr lang="en-US" sz="1400" i="1" dirty="0">
                <a:solidFill>
                  <a:srgbClr val="023558"/>
                </a:solidFill>
              </a:rPr>
              <a:t>Name: Karan Salunke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F0B85-2D0B-8CE2-0C62-378937D4A485}"/>
              </a:ext>
            </a:extLst>
          </p:cNvPr>
          <p:cNvSpPr txBox="1"/>
          <p:nvPr/>
        </p:nvSpPr>
        <p:spPr>
          <a:xfrm>
            <a:off x="1988623" y="5873760"/>
            <a:ext cx="228080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023558"/>
                </a:solidFill>
              </a:rPr>
              <a:t>College: Alard University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686482-2ABD-404B-4ABA-CEB96E4AB9C1}"/>
              </a:ext>
            </a:extLst>
          </p:cNvPr>
          <p:cNvGrpSpPr/>
          <p:nvPr/>
        </p:nvGrpSpPr>
        <p:grpSpPr>
          <a:xfrm>
            <a:off x="995345" y="1645077"/>
            <a:ext cx="4588472" cy="742352"/>
            <a:chOff x="1283711" y="1438666"/>
            <a:chExt cx="4588472" cy="74235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615D82-5CB2-52DA-0B05-5FE8B54D042E}"/>
                </a:ext>
              </a:extLst>
            </p:cNvPr>
            <p:cNvSpPr/>
            <p:nvPr/>
          </p:nvSpPr>
          <p:spPr>
            <a:xfrm>
              <a:off x="1283711" y="1438666"/>
              <a:ext cx="4588472" cy="742352"/>
            </a:xfrm>
            <a:prstGeom prst="roundRect">
              <a:avLst/>
            </a:prstGeom>
            <a:solidFill>
              <a:srgbClr val="0349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CEE186-AA2C-A9BA-A43A-D62A437771F7}"/>
                </a:ext>
              </a:extLst>
            </p:cNvPr>
            <p:cNvSpPr txBox="1"/>
            <p:nvPr/>
          </p:nvSpPr>
          <p:spPr>
            <a:xfrm>
              <a:off x="1441240" y="1609787"/>
              <a:ext cx="427341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E500"/>
                  </a:solidFill>
                </a:rPr>
                <a:t>Next Gen Employability Program</a:t>
              </a:r>
              <a:endParaRPr lang="en-US" dirty="0">
                <a:solidFill>
                  <a:srgbClr val="FFE5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3A782A-5355-03DB-CA26-A3A3D607DA31}"/>
              </a:ext>
            </a:extLst>
          </p:cNvPr>
          <p:cNvGrpSpPr/>
          <p:nvPr/>
        </p:nvGrpSpPr>
        <p:grpSpPr>
          <a:xfrm>
            <a:off x="1894840" y="1516840"/>
            <a:ext cx="8402320" cy="4033672"/>
            <a:chOff x="2159836" y="1516840"/>
            <a:chExt cx="8402320" cy="40336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7C8318-501A-300C-1586-3487E06F1253}"/>
                </a:ext>
              </a:extLst>
            </p:cNvPr>
            <p:cNvGrpSpPr/>
            <p:nvPr/>
          </p:nvGrpSpPr>
          <p:grpSpPr>
            <a:xfrm>
              <a:off x="2159836" y="1608432"/>
              <a:ext cx="8402320" cy="3942080"/>
              <a:chOff x="2159836" y="1457960"/>
              <a:chExt cx="8402320" cy="394208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88D108B-EC8D-6B85-5F57-F9D19D5681C4}"/>
                  </a:ext>
                </a:extLst>
              </p:cNvPr>
              <p:cNvSpPr/>
              <p:nvPr/>
            </p:nvSpPr>
            <p:spPr>
              <a:xfrm>
                <a:off x="2159836" y="1457960"/>
                <a:ext cx="8402320" cy="3942080"/>
              </a:xfrm>
              <a:prstGeom prst="roundRect">
                <a:avLst>
                  <a:gd name="adj" fmla="val 10997"/>
                </a:avLst>
              </a:prstGeom>
              <a:solidFill>
                <a:srgbClr val="0349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97845F-F959-88CB-A4ED-3AA0360C1A9D}"/>
                  </a:ext>
                </a:extLst>
              </p:cNvPr>
              <p:cNvSpPr txBox="1"/>
              <p:nvPr/>
            </p:nvSpPr>
            <p:spPr>
              <a:xfrm>
                <a:off x="2159836" y="4391210"/>
                <a:ext cx="84023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E500"/>
                    </a:solidFill>
                  </a:rPr>
                  <a:t>The content is curated from online/offline resources and used for educational purpose only.</a:t>
                </a:r>
              </a:p>
            </p:txBody>
          </p:sp>
        </p:grpSp>
        <p:pic>
          <p:nvPicPr>
            <p:cNvPr id="8" name="Picture 7" descr="A blue sign with black background&#10;&#10;AI-generated content may be incorrect.">
              <a:extLst>
                <a:ext uri="{FF2B5EF4-FFF2-40B4-BE49-F238E27FC236}">
                  <a16:creationId xmlns:a16="http://schemas.microsoft.com/office/drawing/2014/main" id="{43BB6327-B30A-E013-C8DA-976B9EC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324" t="20721" r="6756" b="23454"/>
            <a:stretch>
              <a:fillRect/>
            </a:stretch>
          </p:blipFill>
          <p:spPr>
            <a:xfrm>
              <a:off x="2487153" y="1516840"/>
              <a:ext cx="7747686" cy="28991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98702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 with a black background&#10;&#10;AI-generated content may be incorrect.">
            <a:extLst>
              <a:ext uri="{FF2B5EF4-FFF2-40B4-BE49-F238E27FC236}">
                <a16:creationId xmlns:a16="http://schemas.microsoft.com/office/drawing/2014/main" id="{F314EBF8-9802-CF1D-801E-63C18C22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20" t="30090" r="9640" b="30270"/>
          <a:stretch>
            <a:fillRect/>
          </a:stretch>
        </p:blipFill>
        <p:spPr>
          <a:xfrm>
            <a:off x="802675" y="1603289"/>
            <a:ext cx="10586649" cy="3907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FEE84B-060E-0646-61C1-61E6884BACC3}"/>
              </a:ext>
            </a:extLst>
          </p:cNvPr>
          <p:cNvSpPr txBox="1"/>
          <p:nvPr/>
        </p:nvSpPr>
        <p:spPr>
          <a:xfrm>
            <a:off x="3167860" y="3251436"/>
            <a:ext cx="6918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AI Leave &amp; Payroll Management System</a:t>
            </a:r>
            <a:endParaRPr lang="en-US" sz="25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940F8-47B2-3605-4FFD-62224135AD9A}"/>
              </a:ext>
            </a:extLst>
          </p:cNvPr>
          <p:cNvSpPr txBox="1"/>
          <p:nvPr/>
        </p:nvSpPr>
        <p:spPr>
          <a:xfrm>
            <a:off x="5495063" y="2882104"/>
            <a:ext cx="226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D5E3FF"/>
                </a:solidFill>
              </a:rPr>
              <a:t>Project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13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>
                <a:solidFill>
                  <a:srgbClr val="213163"/>
                </a:solidFill>
              </a:rPr>
              <a:t>Table of Contents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174709" y="1295647"/>
            <a:ext cx="5754564" cy="353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800"/>
              </a:spcBef>
              <a:spcAft>
                <a:spcPts val="1400"/>
              </a:spcAft>
              <a:buClr>
                <a:srgbClr val="213163"/>
              </a:buClr>
            </a:pPr>
            <a:r>
              <a:rPr sz="1800">
                <a:solidFill>
                  <a:srgbClr val="0F2B48"/>
                </a:solidFill>
                <a:latin typeface="Segoe UI"/>
              </a:rPr>
              <a:t>Problem Statement</a:t>
            </a:r>
            <a:endParaRPr lang="en-IN" sz="1800" dirty="0"/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B48"/>
                </a:solidFill>
                <a:latin typeface="Segoe UI"/>
              </a:rPr>
              <a:t>Project Overview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B48"/>
                </a:solidFill>
                <a:latin typeface="Segoe UI"/>
              </a:rPr>
              <a:t>Proposed Solution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B48"/>
                </a:solidFill>
                <a:latin typeface="Segoe UI"/>
              </a:rPr>
              <a:t>Technology Used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B48"/>
                </a:solidFill>
                <a:latin typeface="Segoe UI"/>
              </a:rPr>
              <a:t>Modelling &amp; Result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B48"/>
                </a:solidFill>
                <a:latin typeface="Segoe UI"/>
              </a:rPr>
              <a:t>Conclusion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B48"/>
                </a:solidFill>
                <a:latin typeface="Segoe UI"/>
              </a:rPr>
              <a:t>References &amp; Project Repository</a:t>
            </a:r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C3BD9B49-6271-C92D-48CE-5039440C29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16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E17010-FDB9-D85D-24CC-2DCA1987FE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" t="10689" r="177" b="7791"/>
          <a:stretch>
            <a:fillRect/>
          </a:stretch>
        </p:blipFill>
        <p:spPr>
          <a:xfrm>
            <a:off x="564204" y="1361872"/>
            <a:ext cx="10924162" cy="49221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F1B856-5005-B126-B0B4-E753D9783F0E}"/>
              </a:ext>
            </a:extLst>
          </p:cNvPr>
          <p:cNvSpPr txBox="1"/>
          <p:nvPr/>
        </p:nvSpPr>
        <p:spPr>
          <a:xfrm>
            <a:off x="177530" y="653688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9A1CF19-477C-5C17-FA78-34A1ABC1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475BC786-E92C-DE4A-EE1E-7D4D449C21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P</a:t>
            </a:r>
            <a:r>
              <a:rPr lang="en-IN" sz="2000" b="1" dirty="0" err="1">
                <a:solidFill>
                  <a:srgbClr val="213163"/>
                </a:solidFill>
              </a:rPr>
              <a:t>roject</a:t>
            </a:r>
            <a:r>
              <a:rPr lang="en-IN" sz="2000" b="1" dirty="0">
                <a:solidFill>
                  <a:srgbClr val="213163"/>
                </a:solidFill>
              </a:rPr>
              <a:t> Overview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9521E-5B74-93F2-2825-C4A83A916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67" r="86" b="7722"/>
          <a:stretch>
            <a:fillRect/>
          </a:stretch>
        </p:blipFill>
        <p:spPr>
          <a:xfrm>
            <a:off x="476655" y="1478605"/>
            <a:ext cx="11332724" cy="48054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806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7D828F6-D11A-004C-6B1C-7342E3C2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01B87DF3-C5CE-63DD-4007-1F1C71D372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P</a:t>
            </a:r>
            <a:r>
              <a:rPr lang="en-IN" sz="2000" b="1" dirty="0" err="1">
                <a:solidFill>
                  <a:srgbClr val="213163"/>
                </a:solidFill>
              </a:rPr>
              <a:t>roposed</a:t>
            </a:r>
            <a:r>
              <a:rPr lang="en-IN" sz="2000" b="1" dirty="0">
                <a:solidFill>
                  <a:srgbClr val="213163"/>
                </a:solidFill>
              </a:rPr>
              <a:t> 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76336A-1904-99A7-F40F-DE5B706BB1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894" r="-56" b="8653"/>
          <a:stretch>
            <a:fillRect/>
          </a:stretch>
        </p:blipFill>
        <p:spPr>
          <a:xfrm>
            <a:off x="337623" y="1445328"/>
            <a:ext cx="11335569" cy="48776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723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B8448C-ABF1-11B7-E777-63C7FC60955F}"/>
              </a:ext>
            </a:extLst>
          </p:cNvPr>
          <p:cNvSpPr txBox="1"/>
          <p:nvPr/>
        </p:nvSpPr>
        <p:spPr>
          <a:xfrm>
            <a:off x="177530" y="653688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Technology Used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D2AE3-2D82-187F-E655-2ADEF8358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13" r="-86" b="7673"/>
          <a:stretch>
            <a:fillRect/>
          </a:stretch>
        </p:blipFill>
        <p:spPr>
          <a:xfrm>
            <a:off x="278433" y="1215046"/>
            <a:ext cx="11635134" cy="51167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407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1;g5fab984687_2_0">
            <a:extLst>
              <a:ext uri="{FF2B5EF4-FFF2-40B4-BE49-F238E27FC236}">
                <a16:creationId xmlns:a16="http://schemas.microsoft.com/office/drawing/2014/main" id="{B38E9FF9-38F2-ECAC-4F05-1EEDD7B4D936}"/>
              </a:ext>
            </a:extLst>
          </p:cNvPr>
          <p:cNvSpPr txBox="1">
            <a:spLocks/>
          </p:cNvSpPr>
          <p:nvPr/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Modeling &amp; Result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19EF1-8493-A4D1-E93F-0F91D6E5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05" r="333" b="7559"/>
          <a:stretch>
            <a:fillRect/>
          </a:stretch>
        </p:blipFill>
        <p:spPr>
          <a:xfrm>
            <a:off x="422695" y="1500996"/>
            <a:ext cx="11274724" cy="47704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6947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6150E5-F9FB-2A4F-1F6A-D42AA79416A9}"/>
              </a:ext>
            </a:extLst>
          </p:cNvPr>
          <p:cNvSpPr txBox="1"/>
          <p:nvPr/>
        </p:nvSpPr>
        <p:spPr>
          <a:xfrm>
            <a:off x="177530" y="653688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B22EA-EC8F-DDBD-598A-00234C6D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13" b="7547"/>
          <a:stretch>
            <a:fillRect/>
          </a:stretch>
        </p:blipFill>
        <p:spPr>
          <a:xfrm>
            <a:off x="359301" y="1207699"/>
            <a:ext cx="11457359" cy="52276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575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0CFA53-CCA4-D4E2-FCC5-6726C969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696FB24-3D2E-A463-EE53-5191611540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R</a:t>
            </a:r>
            <a:r>
              <a:rPr lang="en-IN" sz="2000" b="1" dirty="0" err="1">
                <a:solidFill>
                  <a:srgbClr val="213163"/>
                </a:solidFill>
              </a:rPr>
              <a:t>eferences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266686" y="1295647"/>
            <a:ext cx="11586008" cy="505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134" indent="-231134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sz="1400" b="1">
                <a:solidFill>
                  <a:srgbClr val="0267CC"/>
                </a:solidFill>
                <a:latin typeface="Segoe UI"/>
              </a:rPr>
              <a:t>1. </a:t>
            </a:r>
            <a:r>
              <a:rPr sz="1400" b="1">
                <a:solidFill>
                  <a:srgbClr val="0F2B48"/>
                </a:solidFill>
                <a:latin typeface="Segoe UI"/>
              </a:rPr>
              <a:t>SSRN Electronic Journal: </a:t>
            </a:r>
            <a:r>
              <a:rPr sz="1300" i="1">
                <a:solidFill>
                  <a:srgbClr val="32465F"/>
                </a:solidFill>
                <a:latin typeface="Segoe UI"/>
              </a:rPr>
              <a:t>"AI-Driven Workforce Management &amp; Automated Payroll Systems in Modern HRMS"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200" b="1">
                <a:solidFill>
                  <a:srgbClr val="647382"/>
                </a:solidFill>
                <a:latin typeface="Segoe UI"/>
              </a:rPr>
              <a:t>    Access Link: </a:t>
            </a:r>
            <a:r>
              <a:rPr sz="1200" u="sng">
                <a:solidFill>
                  <a:srgbClr val="0267CC"/>
                </a:solidFill>
                <a:latin typeface="Segoe UI"/>
              </a:rPr>
              <a:t>https://papers.ssrn.com/sol3/papers.cfm?abstract_id=5998215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267CC"/>
                </a:solidFill>
                <a:latin typeface="Segoe UI"/>
              </a:rPr>
              <a:t>2. </a:t>
            </a:r>
            <a:r>
              <a:rPr sz="1400" b="1">
                <a:solidFill>
                  <a:srgbClr val="0F2B48"/>
                </a:solidFill>
                <a:latin typeface="Segoe UI"/>
              </a:rPr>
              <a:t>IJIRT Journal (Paper ID: IJIRT185672): </a:t>
            </a:r>
            <a:r>
              <a:rPr sz="1300" i="1">
                <a:solidFill>
                  <a:srgbClr val="32465F"/>
                </a:solidFill>
                <a:latin typeface="Segoe UI"/>
              </a:rPr>
              <a:t>"Smart Human Resource and Leave Management Systems: Architecture and Automation", Vol. 11, Issue 4, 2024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200" b="1">
                <a:solidFill>
                  <a:srgbClr val="647382"/>
                </a:solidFill>
                <a:latin typeface="Segoe UI"/>
              </a:rPr>
              <a:t>    Access Link: </a:t>
            </a:r>
            <a:r>
              <a:rPr sz="1200" u="sng">
                <a:solidFill>
                  <a:srgbClr val="0267CC"/>
                </a:solidFill>
                <a:latin typeface="Segoe UI"/>
              </a:rPr>
              <a:t>https://ijirt.org/publishedpaper/IJIRT185672_PAPER.pdf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267CC"/>
                </a:solidFill>
                <a:latin typeface="Segoe UI"/>
              </a:rPr>
              <a:t>3. </a:t>
            </a:r>
            <a:r>
              <a:rPr sz="1400" b="1">
                <a:solidFill>
                  <a:srgbClr val="0F2B48"/>
                </a:solidFill>
                <a:latin typeface="Segoe UI"/>
              </a:rPr>
              <a:t>IJCSE Journal Publication: </a:t>
            </a:r>
            <a:r>
              <a:rPr sz="1300" i="1">
                <a:solidFill>
                  <a:srgbClr val="32465F"/>
                </a:solidFill>
                <a:latin typeface="Segoe UI"/>
              </a:rPr>
              <a:t>"Design &amp; Implementation of Intelligent Employee Attendance &amp; Payroll Frameworks", Vol. 8, Issue 4, DOI: 10.26438/ijcse/v8i4.9799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200" b="1">
                <a:solidFill>
                  <a:srgbClr val="647382"/>
                </a:solidFill>
                <a:latin typeface="Segoe UI"/>
              </a:rPr>
              <a:t>    Access Link: </a:t>
            </a:r>
            <a:r>
              <a:rPr sz="1200" u="sng">
                <a:solidFill>
                  <a:srgbClr val="0267CC"/>
                </a:solidFill>
                <a:latin typeface="Segoe UI"/>
              </a:rPr>
              <a:t>https://doi.org/10.26438/ijcse/v8i4.9799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267CC"/>
                </a:solidFill>
                <a:latin typeface="Segoe UI"/>
              </a:rPr>
              <a:t>4. </a:t>
            </a:r>
            <a:r>
              <a:rPr sz="1400" b="1">
                <a:solidFill>
                  <a:srgbClr val="0F2B48"/>
                </a:solidFill>
                <a:latin typeface="Segoe UI"/>
              </a:rPr>
              <a:t>Project Source Code Repository (GitHub): </a:t>
            </a:r>
            <a:r>
              <a:rPr sz="1300" i="1">
                <a:solidFill>
                  <a:srgbClr val="32465F"/>
                </a:solidFill>
                <a:latin typeface="Segoe UI"/>
              </a:rPr>
              <a:t>"PeoplePilot Pro: AI Leave &amp; Payroll Management System" (Spring Boot 3.5, MySQL 8.0, Vanilla JS, Neural Copilot AI)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200" b="1">
                <a:solidFill>
                  <a:srgbClr val="647382"/>
                </a:solidFill>
                <a:latin typeface="Segoe UI"/>
              </a:rPr>
              <a:t>    Access Link: </a:t>
            </a:r>
            <a:r>
              <a:rPr sz="1200" u="sng">
                <a:solidFill>
                  <a:srgbClr val="0267CC"/>
                </a:solidFill>
                <a:latin typeface="Segoe UI"/>
              </a:rPr>
              <a:t>https://github.com/vivekpawar5406-dev/Ai_leave_and_payroll_management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497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9162bd5b-4ed9-4da3-b376-05204580ba3f"/>
    <ds:schemaRef ds:uri="http://purl.org/dc/elements/1.1/"/>
    <ds:schemaRef ds:uri="c0fa2617-96bd-425d-8578-e93563fe37c5"/>
    <ds:schemaRef ds:uri="http://schemas.microsoft.com/office/infopath/2007/PartnerControls"/>
    <ds:schemaRef ds:uri="http://purl.org/dc/dcmitype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854</Words>
  <Application>Microsoft Office PowerPoint</Application>
  <PresentationFormat>Widescreen</PresentationFormat>
  <Paragraphs>173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 Narrow</vt:lpstr>
      <vt:lpstr>Arial</vt:lpstr>
      <vt:lpstr>Calibri</vt:lpstr>
      <vt:lpstr>Times New Roman</vt:lpstr>
      <vt:lpstr>Simple Light</vt:lpstr>
      <vt:lpstr>PowerPoint Presentation</vt:lpstr>
      <vt:lpstr>PowerPoint Presentation</vt:lpstr>
      <vt:lpstr>PowerPoint Presentation</vt:lpstr>
      <vt:lpstr>Table of Contents</vt:lpstr>
      <vt:lpstr>PowerPoint Presentation</vt:lpstr>
      <vt:lpstr>Project Overview </vt:lpstr>
      <vt:lpstr>Proposed Solution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Helvin Mg</dc:creator>
  <cp:lastModifiedBy>K D</cp:lastModifiedBy>
  <cp:revision>28</cp:revision>
  <dcterms:modified xsi:type="dcterms:W3CDTF">2026-10-23T05:39:46Z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ADA14AB9-6E05-4AF1-84FB-ACE67E38F4B9</vt:lpwstr>
  </property>
  <property fmtid="{D5CDD505-2E9C-101B-9397-08002B2CF9AE}" pid="4" name="ArticulatePath">
    <vt:lpwstr>https://edunetfoundationorg-my.sharepoint.com/personal/kaisar_edunetfoundation_org/Documents/Beutified ppt/EY/Student showcase 2025/Master Class 2 - UI_UX Design Principles</vt:lpwstr>
  </property>
</Properties>
</file>